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6" r:id="rId2"/>
    <p:sldId id="260" r:id="rId3"/>
    <p:sldId id="278" r:id="rId4"/>
    <p:sldId id="257" r:id="rId5"/>
    <p:sldId id="321" r:id="rId6"/>
    <p:sldId id="322" r:id="rId7"/>
    <p:sldId id="323" r:id="rId8"/>
    <p:sldId id="329" r:id="rId9"/>
    <p:sldId id="330" r:id="rId10"/>
    <p:sldId id="331" r:id="rId11"/>
    <p:sldId id="332" r:id="rId12"/>
    <p:sldId id="333" r:id="rId13"/>
    <p:sldId id="324" r:id="rId14"/>
    <p:sldId id="277" r:id="rId15"/>
    <p:sldId id="328" r:id="rId16"/>
    <p:sldId id="320" r:id="rId17"/>
    <p:sldId id="327" r:id="rId1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3" d="100"/>
          <a:sy n="73" d="100"/>
        </p:scale>
        <p:origin x="1080"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Airline Ops Briefing Dashboard</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Kasireddy Srihita                        roll no: 2520030153</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Yasasri                                       roll no: 2520030373</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Pavitra D</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70000" lnSpcReduction="20000"/>
          </a:bodyPr>
          <a:lstStyle/>
          <a:p>
            <a:pPr marL="0" indent="0">
              <a:buNone/>
            </a:pPr>
            <a:r>
              <a:rPr lang="en-IN" dirty="0"/>
              <a:t>Airline Ops Briefing Dashboard is a web-based airport operations monitoring system designed to provide airport managers and operational staff with a centralized platform for monitoring daily airport activities. The system focuses on critical operational parameters such as slot utilization, flight delays, staffing information, weather conditions, gate occupancy, and operational alerts.</a:t>
            </a:r>
          </a:p>
          <a:p>
            <a:pPr marL="0" indent="0">
              <a:buNone/>
            </a:pPr>
            <a:r>
              <a:rPr lang="en-IN" dirty="0"/>
              <a:t>The dashboard integrates multiple monitoring modules into a single interface, enabling efficient tracking and visualization of airport operations. Interactive user interface components, real-time notifications, and analytical dashboards improve situational awareness and assist decision-makers in managing airport resources effectively. The project demonstrates the implementation of modern front-end development concepts through a responsive and user-friendly web application.</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7500" lnSpcReduction="20000"/>
          </a:bodyPr>
          <a:lstStyle/>
          <a:p>
            <a:pPr marL="0" indent="0">
              <a:buNone/>
            </a:pPr>
            <a:r>
              <a:rPr lang="en-IN" dirty="0"/>
              <a:t>Modern airports manage a large number of operations simultaneously, including flight scheduling, gate allocation, weather monitoring, staffing management, and operational reporting. Efficient coordination of these activities is essential for ensuring smooth airport functioning and minimizing operational disruptions.</a:t>
            </a:r>
          </a:p>
          <a:p>
            <a:pPr marL="0" indent="0">
              <a:buNone/>
            </a:pPr>
            <a:r>
              <a:rPr lang="en-IN" dirty="0"/>
              <a:t>Traditional monitoring approaches often involve multiple independent systems, making it difficult for airport managers to obtain a complete operational overview. The Airline Ops Briefing Dashboard addresses this challenge by providing a centralized platform that consolidates important operational information into a single dashboard. This improves monitoring efficiency, resource management, and decision-making capabilities.</a:t>
            </a:r>
          </a:p>
          <a:p>
            <a:endParaRPr lang="en-US"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77500" lnSpcReduction="20000"/>
          </a:bodyPr>
          <a:lstStyle/>
          <a:p>
            <a:pPr marL="0" indent="0">
              <a:buNone/>
            </a:pPr>
            <a:r>
              <a:rPr lang="en-IN" dirty="0"/>
              <a:t>Airport operations involve numerous interconnected activities that require continuous monitoring and coordination. Information related to flight schedules, delays, gate utilization, staffing availability, weather conditions, and operational alerts is often distributed across multiple systems.</a:t>
            </a:r>
          </a:p>
          <a:p>
            <a:pPr marL="0" indent="0">
              <a:buNone/>
            </a:pPr>
            <a:r>
              <a:rPr lang="en-IN" dirty="0"/>
              <a:t>The absence of a centralized monitoring platform can lead to delays in decision-making, inefficient resource allocation, and operational conflicts. Airport managers require a unified solution that provides real-time visibility into critical operational metrics.</a:t>
            </a:r>
          </a:p>
          <a:p>
            <a:pPr marL="0" indent="0">
              <a:buNone/>
            </a:pPr>
            <a:r>
              <a:rPr lang="en-IN" dirty="0"/>
              <a:t>The Airline Ops Briefing Dashboard aims to solve these challenges by offering an integrated platform for monitoring airport operations and supporting effective operational decision-making.</a:t>
            </a:r>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70000" lnSpcReduction="20000"/>
          </a:bodyPr>
          <a:lstStyle/>
          <a:p>
            <a:r>
              <a:rPr lang="en-IN" b="1" dirty="0"/>
              <a:t>Objectives</a:t>
            </a:r>
          </a:p>
          <a:p>
            <a:r>
              <a:rPr lang="en-IN" dirty="0"/>
              <a:t>To provide a centralized airport operations monitoring platform. </a:t>
            </a:r>
          </a:p>
          <a:p>
            <a:r>
              <a:rPr lang="en-IN" dirty="0"/>
              <a:t>To monitor slot utilization and operational performance. </a:t>
            </a:r>
          </a:p>
          <a:p>
            <a:r>
              <a:rPr lang="en-IN" dirty="0"/>
              <a:t>To </a:t>
            </a:r>
            <a:r>
              <a:rPr lang="en-IN" dirty="0" err="1"/>
              <a:t>analyze</a:t>
            </a:r>
            <a:r>
              <a:rPr lang="en-IN" dirty="0"/>
              <a:t> flight delays and operational disruptions. </a:t>
            </a:r>
          </a:p>
          <a:p>
            <a:r>
              <a:rPr lang="en-IN" dirty="0"/>
              <a:t>To track staff availability and workforce management. </a:t>
            </a:r>
          </a:p>
          <a:p>
            <a:r>
              <a:rPr lang="en-IN" dirty="0"/>
              <a:t>To monitor weather conditions affecting airport operations. </a:t>
            </a:r>
          </a:p>
          <a:p>
            <a:r>
              <a:rPr lang="en-IN" dirty="0"/>
              <a:t>To detect gate conflicts and resource allocation issues. </a:t>
            </a:r>
          </a:p>
          <a:p>
            <a:r>
              <a:rPr lang="en-IN" dirty="0"/>
              <a:t>To provide real-time notifications and operational alerts. </a:t>
            </a:r>
          </a:p>
          <a:p>
            <a:r>
              <a:rPr lang="en-IN" dirty="0"/>
              <a:t>To support airport managers in making informed decisions. </a:t>
            </a:r>
          </a:p>
          <a:p>
            <a:pPr marL="0" indent="0">
              <a:buNone/>
            </a:pPr>
            <a:r>
              <a:rPr lang="en-IN" b="1" dirty="0"/>
              <a:t>Justification</a:t>
            </a:r>
          </a:p>
          <a:p>
            <a:r>
              <a:rPr lang="en-IN" dirty="0"/>
              <a:t>These objectives improve airport operational efficiency by providing real-time visibility into critical activities. The dashboard helps reduce response times, optimize resource utilization, improve operational awareness, and support effective airport management.</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6" name="Picture 5">
            <a:extLst>
              <a:ext uri="{FF2B5EF4-FFF2-40B4-BE49-F238E27FC236}">
                <a16:creationId xmlns:a16="http://schemas.microsoft.com/office/drawing/2014/main" id="{E6BECE75-7A03-9D36-84DC-693119506808}"/>
              </a:ext>
            </a:extLst>
          </p:cNvPr>
          <p:cNvPicPr>
            <a:picLocks noChangeAspect="1"/>
          </p:cNvPicPr>
          <p:nvPr/>
        </p:nvPicPr>
        <p:blipFill>
          <a:blip r:embed="rId3"/>
          <a:stretch>
            <a:fillRect/>
          </a:stretch>
        </p:blipFill>
        <p:spPr>
          <a:xfrm>
            <a:off x="2895600" y="1691482"/>
            <a:ext cx="3198448" cy="4343400"/>
          </a:xfrm>
          <a:prstGeom prst="rect">
            <a:avLst/>
          </a:prstGeom>
        </p:spPr>
      </p:pic>
    </p:spTree>
    <p:extLst>
      <p:ext uri="{BB962C8B-B14F-4D97-AF65-F5344CB8AC3E}">
        <p14:creationId xmlns:p14="http://schemas.microsoft.com/office/powerpoint/2010/main" val="2608133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9F25F-5511-0831-CC46-963C40A2AC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B0E3C5-6C24-B379-2948-F2D781B28D6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3666C39-CBA7-D6F8-B5AF-3C322220713E}"/>
              </a:ext>
            </a:extLst>
          </p:cNvPr>
          <p:cNvPicPr>
            <a:picLocks noChangeAspect="1"/>
          </p:cNvPicPr>
          <p:nvPr/>
        </p:nvPicPr>
        <p:blipFill>
          <a:blip r:embed="rId2"/>
          <a:stretch>
            <a:fillRect/>
          </a:stretch>
        </p:blipFill>
        <p:spPr>
          <a:xfrm>
            <a:off x="838200" y="1828800"/>
            <a:ext cx="7726235" cy="3810000"/>
          </a:xfrm>
          <a:prstGeom prst="rect">
            <a:avLst/>
          </a:prstGeom>
        </p:spPr>
      </p:pic>
    </p:spTree>
    <p:extLst>
      <p:ext uri="{BB962C8B-B14F-4D97-AF65-F5344CB8AC3E}">
        <p14:creationId xmlns:p14="http://schemas.microsoft.com/office/powerpoint/2010/main" val="487947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A455-E6E6-F7E3-28A0-A766B6104F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F4CE34-BDF2-5732-9560-A442497EF68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7466189-228E-6D17-E9B1-3F5BA131AF56}"/>
              </a:ext>
            </a:extLst>
          </p:cNvPr>
          <p:cNvPicPr>
            <a:picLocks noChangeAspect="1"/>
          </p:cNvPicPr>
          <p:nvPr/>
        </p:nvPicPr>
        <p:blipFill>
          <a:blip r:embed="rId2"/>
          <a:stretch>
            <a:fillRect/>
          </a:stretch>
        </p:blipFill>
        <p:spPr>
          <a:xfrm>
            <a:off x="980811" y="1720583"/>
            <a:ext cx="7182378" cy="3918217"/>
          </a:xfrm>
          <a:prstGeom prst="rect">
            <a:avLst/>
          </a:prstGeom>
        </p:spPr>
      </p:pic>
    </p:spTree>
    <p:extLst>
      <p:ext uri="{BB962C8B-B14F-4D97-AF65-F5344CB8AC3E}">
        <p14:creationId xmlns:p14="http://schemas.microsoft.com/office/powerpoint/2010/main" val="562164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38C07-4414-6444-6D4E-CA0267FA78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399846-7C6C-01E4-923B-DE26613722B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8B6407F-D8BC-CB55-F708-DAEC14687344}"/>
              </a:ext>
            </a:extLst>
          </p:cNvPr>
          <p:cNvPicPr>
            <a:picLocks noChangeAspect="1"/>
          </p:cNvPicPr>
          <p:nvPr/>
        </p:nvPicPr>
        <p:blipFill>
          <a:blip r:embed="rId2"/>
          <a:stretch>
            <a:fillRect/>
          </a:stretch>
        </p:blipFill>
        <p:spPr>
          <a:xfrm>
            <a:off x="432619" y="1580536"/>
            <a:ext cx="8318580" cy="4060507"/>
          </a:xfrm>
          <a:prstGeom prst="rect">
            <a:avLst/>
          </a:prstGeom>
        </p:spPr>
      </p:pic>
    </p:spTree>
    <p:extLst>
      <p:ext uri="{BB962C8B-B14F-4D97-AF65-F5344CB8AC3E}">
        <p14:creationId xmlns:p14="http://schemas.microsoft.com/office/powerpoint/2010/main" val="2416142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BCFD6-9953-A7B9-CA04-E5C697027DD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9C27EE-CC66-2B75-EA11-E64803A40FC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98AC04D-195B-B152-2D3D-21F3CE1DB16F}"/>
              </a:ext>
            </a:extLst>
          </p:cNvPr>
          <p:cNvPicPr>
            <a:picLocks noChangeAspect="1"/>
          </p:cNvPicPr>
          <p:nvPr/>
        </p:nvPicPr>
        <p:blipFill>
          <a:blip r:embed="rId2"/>
          <a:stretch>
            <a:fillRect/>
          </a:stretch>
        </p:blipFill>
        <p:spPr>
          <a:xfrm>
            <a:off x="775171" y="1828800"/>
            <a:ext cx="7593657" cy="3706654"/>
          </a:xfrm>
          <a:prstGeom prst="rect">
            <a:avLst/>
          </a:prstGeom>
        </p:spPr>
      </p:pic>
    </p:spTree>
    <p:extLst>
      <p:ext uri="{BB962C8B-B14F-4D97-AF65-F5344CB8AC3E}">
        <p14:creationId xmlns:p14="http://schemas.microsoft.com/office/powerpoint/2010/main" val="2480083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A836-A545-31F3-1025-4CF8FBEFF4DF}"/>
              </a:ext>
            </a:extLst>
          </p:cNvPr>
          <p:cNvSpPr>
            <a:spLocks noGrp="1"/>
          </p:cNvSpPr>
          <p:nvPr>
            <p:ph type="title"/>
          </p:nvPr>
        </p:nvSpPr>
        <p:spPr/>
        <p:txBody>
          <a:bodyPr/>
          <a:lstStyle/>
          <a:p>
            <a:r>
              <a:rPr lang="en-IN" dirty="0"/>
              <a:t>CO MAPPING</a:t>
            </a:r>
          </a:p>
        </p:txBody>
      </p:sp>
      <p:graphicFrame>
        <p:nvGraphicFramePr>
          <p:cNvPr id="4" name="Content Placeholder 3">
            <a:extLst>
              <a:ext uri="{FF2B5EF4-FFF2-40B4-BE49-F238E27FC236}">
                <a16:creationId xmlns:a16="http://schemas.microsoft.com/office/drawing/2014/main" id="{0B2F2067-9A3D-7809-CD01-9D372DDBF07D}"/>
              </a:ext>
            </a:extLst>
          </p:cNvPr>
          <p:cNvGraphicFramePr>
            <a:graphicFrameLocks noGrp="1"/>
          </p:cNvGraphicFramePr>
          <p:nvPr>
            <p:ph idx="1"/>
            <p:extLst>
              <p:ext uri="{D42A27DB-BD31-4B8C-83A1-F6EECF244321}">
                <p14:modId xmlns:p14="http://schemas.microsoft.com/office/powerpoint/2010/main" val="3657868981"/>
              </p:ext>
            </p:extLst>
          </p:nvPr>
        </p:nvGraphicFramePr>
        <p:xfrm>
          <a:off x="1892154" y="1551630"/>
          <a:ext cx="5359692" cy="4623104"/>
        </p:xfrm>
        <a:graphic>
          <a:graphicData uri="http://schemas.openxmlformats.org/drawingml/2006/table">
            <a:tbl>
              <a:tblPr/>
              <a:tblGrid>
                <a:gridCol w="1786564">
                  <a:extLst>
                    <a:ext uri="{9D8B030D-6E8A-4147-A177-3AD203B41FA5}">
                      <a16:colId xmlns:a16="http://schemas.microsoft.com/office/drawing/2014/main" val="3619825499"/>
                    </a:ext>
                  </a:extLst>
                </a:gridCol>
                <a:gridCol w="1786564">
                  <a:extLst>
                    <a:ext uri="{9D8B030D-6E8A-4147-A177-3AD203B41FA5}">
                      <a16:colId xmlns:a16="http://schemas.microsoft.com/office/drawing/2014/main" val="4169275160"/>
                    </a:ext>
                  </a:extLst>
                </a:gridCol>
                <a:gridCol w="1786564">
                  <a:extLst>
                    <a:ext uri="{9D8B030D-6E8A-4147-A177-3AD203B41FA5}">
                      <a16:colId xmlns:a16="http://schemas.microsoft.com/office/drawing/2014/main" val="4060914650"/>
                    </a:ext>
                  </a:extLst>
                </a:gridCol>
              </a:tblGrid>
              <a:tr h="238209">
                <a:tc>
                  <a:txBody>
                    <a:bodyPr/>
                    <a:lstStyle/>
                    <a:p>
                      <a:pPr>
                        <a:buNone/>
                      </a:pPr>
                      <a:r>
                        <a:rPr lang="en-IN" sz="1200" dirty="0"/>
                        <a:t>Course Outcome</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Project Feature</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Justification</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0420899"/>
                  </a:ext>
                </a:extLst>
              </a:tr>
              <a:tr h="595521">
                <a:tc>
                  <a:txBody>
                    <a:bodyPr/>
                    <a:lstStyle/>
                    <a:p>
                      <a:pPr>
                        <a:buNone/>
                      </a:pPr>
                      <a:r>
                        <a:rPr lang="en-IN" sz="1200" b="1" dirty="0"/>
                        <a:t>CO1</a:t>
                      </a:r>
                      <a:endParaRPr lang="en-IN" sz="1200" dirty="0"/>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Dashboard architecture, reusable components</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Uses component-based UI and modular front-end design.</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036774"/>
                  </a:ext>
                </a:extLst>
              </a:tr>
              <a:tr h="595521">
                <a:tc>
                  <a:txBody>
                    <a:bodyPr/>
                    <a:lstStyle/>
                    <a:p>
                      <a:pPr>
                        <a:buNone/>
                      </a:pPr>
                      <a:r>
                        <a:rPr lang="en-IN" sz="1200" b="1" dirty="0"/>
                        <a:t>CO2</a:t>
                      </a:r>
                      <a:endParaRPr lang="en-IN" sz="1200" dirty="0"/>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ES6 modules, import/export, folder organization</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Project follows modern JavaScript architecture with reusable modules.</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6424364"/>
                  </a:ext>
                </a:extLst>
              </a:tr>
              <a:tr h="595521">
                <a:tc>
                  <a:txBody>
                    <a:bodyPr/>
                    <a:lstStyle/>
                    <a:p>
                      <a:pPr>
                        <a:buNone/>
                      </a:pPr>
                      <a:r>
                        <a:rPr lang="en-IN" sz="1200" b="1" dirty="0"/>
                        <a:t>CO3</a:t>
                      </a:r>
                      <a:endParaRPr lang="en-IN" sz="1200" dirty="0"/>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React components, Props, Routing</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Built using React functional components, JSX and React Router.</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6304900"/>
                  </a:ext>
                </a:extLst>
              </a:tr>
              <a:tr h="952834">
                <a:tc>
                  <a:txBody>
                    <a:bodyPr/>
                    <a:lstStyle/>
                    <a:p>
                      <a:pPr>
                        <a:buNone/>
                      </a:pPr>
                      <a:r>
                        <a:rPr lang="en-IN" sz="1200" b="1" dirty="0"/>
                        <a:t>CO4</a:t>
                      </a:r>
                      <a:endParaRPr lang="en-IN" sz="1200" dirty="0"/>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Authentication Context, State Management</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Uses Context API, React Hooks (</a:t>
                      </a:r>
                      <a:r>
                        <a:rPr lang="en-IN" sz="1200" dirty="0" err="1"/>
                        <a:t>useState</a:t>
                      </a:r>
                      <a:r>
                        <a:rPr lang="en-IN" sz="1200" dirty="0"/>
                        <a:t>, </a:t>
                      </a:r>
                      <a:r>
                        <a:rPr lang="en-IN" sz="1200" dirty="0" err="1"/>
                        <a:t>useContext</a:t>
                      </a:r>
                      <a:r>
                        <a:rPr lang="en-IN" sz="1200" dirty="0"/>
                        <a:t>), protected routes and state management.</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3857626"/>
                  </a:ext>
                </a:extLst>
              </a:tr>
              <a:tr h="774178">
                <a:tc>
                  <a:txBody>
                    <a:bodyPr/>
                    <a:lstStyle/>
                    <a:p>
                      <a:pPr>
                        <a:buNone/>
                      </a:pPr>
                      <a:r>
                        <a:rPr lang="en-IN" sz="1200" b="1" dirty="0"/>
                        <a:t>CO5</a:t>
                      </a:r>
                      <a:endParaRPr lang="en-IN" sz="1200" dirty="0"/>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Navigation, Login, Responsive UI</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200" dirty="0"/>
                        <a:t>Implements SPA navigation, protected pages and user-friendly interface.</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7835249"/>
                  </a:ext>
                </a:extLst>
              </a:tr>
              <a:tr h="774178">
                <a:tc>
                  <a:txBody>
                    <a:bodyPr/>
                    <a:lstStyle/>
                    <a:p>
                      <a:pPr>
                        <a:buNone/>
                      </a:pPr>
                      <a:r>
                        <a:rPr lang="en-IN" sz="1200" b="1" dirty="0"/>
                        <a:t>CO6</a:t>
                      </a:r>
                      <a:endParaRPr lang="en-IN" sz="1200" dirty="0"/>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Vite Project Structure</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Built using Vite with production-ready project organization and deployment support.</a:t>
                      </a:r>
                    </a:p>
                  </a:txBody>
                  <a:tcPr marL="59552" marR="59552" marT="29776" marB="29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636814"/>
                  </a:ext>
                </a:extLst>
              </a:tr>
            </a:tbl>
          </a:graphicData>
        </a:graphic>
      </p:graphicFrame>
    </p:spTree>
    <p:extLst>
      <p:ext uri="{BB962C8B-B14F-4D97-AF65-F5344CB8AC3E}">
        <p14:creationId xmlns:p14="http://schemas.microsoft.com/office/powerpoint/2010/main" val="3933568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
        <p:nvSpPr>
          <p:cNvPr id="3" name="Rectangle 1">
            <a:extLst>
              <a:ext uri="{FF2B5EF4-FFF2-40B4-BE49-F238E27FC236}">
                <a16:creationId xmlns:a16="http://schemas.microsoft.com/office/drawing/2014/main" id="{14227A72-8E67-1DBE-11BB-DBC4015A7319}"/>
              </a:ext>
            </a:extLst>
          </p:cNvPr>
          <p:cNvSpPr>
            <a:spLocks noGrp="1" noChangeArrowheads="1"/>
          </p:cNvSpPr>
          <p:nvPr>
            <p:ph idx="1"/>
          </p:nvPr>
        </p:nvSpPr>
        <p:spPr bwMode="auto">
          <a:xfrm>
            <a:off x="457200" y="1218535"/>
            <a:ext cx="883126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Improved airport operational visibility.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Better monitoring of flight schedules and delays.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Efficient slot utilization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Improved workforce and staff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Faster detection of operational conflicts.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Better awareness of weather-related disruptions.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Improved resource allocation and gate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Real-time notification and alert generation.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Enhanced decision-making capabilities.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Centralized access to operational information. </a:t>
            </a:r>
          </a:p>
        </p:txBody>
      </p:sp>
    </p:spTree>
    <p:extLst>
      <p:ext uri="{BB962C8B-B14F-4D97-AF65-F5344CB8AC3E}">
        <p14:creationId xmlns:p14="http://schemas.microsoft.com/office/powerpoint/2010/main" val="2610488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85000" lnSpcReduction="20000"/>
          </a:bodyPr>
          <a:lstStyle/>
          <a:p>
            <a:pPr marL="0" indent="0">
              <a:buNone/>
            </a:pPr>
            <a:r>
              <a:rPr lang="en-IN" b="1" dirty="0"/>
              <a:t>Conclusion and Future Scope</a:t>
            </a:r>
          </a:p>
          <a:p>
            <a:r>
              <a:rPr lang="en-IN" dirty="0"/>
              <a:t>The Airline Ops Briefing Dashboard provides a centralized and efficient platform for monitoring airport operations. The system integrates multiple operational modules including slot utilization monitoring, delay analysis, staffing management, weather tracking, gate conflict detection, and real-time notifications.</a:t>
            </a:r>
          </a:p>
          <a:p>
            <a:r>
              <a:rPr lang="en-IN" dirty="0"/>
              <a:t>The project successfully demonstrates modern front-end development principles through an interactive and responsive user interface. By consolidating operational information into a single dashboard, the system improves visibility, efficiency, and decision-making capabilities.</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96AA-EBB9-F0DD-3D8F-B381EC6DB1A6}"/>
              </a:ext>
            </a:extLst>
          </p:cNvPr>
          <p:cNvSpPr>
            <a:spLocks noGrp="1"/>
          </p:cNvSpPr>
          <p:nvPr>
            <p:ph type="title"/>
          </p:nvPr>
        </p:nvSpPr>
        <p:spPr/>
        <p:txBody>
          <a:bodyPr>
            <a:normAutofit fontScale="90000"/>
          </a:bodyPr>
          <a:lstStyle/>
          <a:p>
            <a:r>
              <a:rPr lang="en-IN" sz="3100" b="1" dirty="0">
                <a:solidFill>
                  <a:srgbClr val="0070C0"/>
                </a:solidFill>
                <a:latin typeface="Times New Roman" panose="02020603050405020304" pitchFamily="18" charset="0"/>
                <a:cs typeface="Times New Roman" panose="02020603050405020304" pitchFamily="18" charset="0"/>
              </a:rPr>
              <a:t>Future Scope</a:t>
            </a:r>
            <a:br>
              <a:rPr lang="en-IN" b="1" dirty="0">
                <a:solidFill>
                  <a:srgbClr val="0070C0"/>
                </a:solidFill>
              </a:rPr>
            </a:br>
            <a:endParaRPr lang="en-IN" dirty="0">
              <a:solidFill>
                <a:srgbClr val="0070C0"/>
              </a:solidFill>
            </a:endParaRPr>
          </a:p>
        </p:txBody>
      </p:sp>
      <p:sp>
        <p:nvSpPr>
          <p:cNvPr id="3" name="Content Placeholder 2">
            <a:extLst>
              <a:ext uri="{FF2B5EF4-FFF2-40B4-BE49-F238E27FC236}">
                <a16:creationId xmlns:a16="http://schemas.microsoft.com/office/drawing/2014/main" id="{76C2C63C-6603-EDA1-C09E-332322D909C1}"/>
              </a:ext>
            </a:extLst>
          </p:cNvPr>
          <p:cNvSpPr>
            <a:spLocks noGrp="1"/>
          </p:cNvSpPr>
          <p:nvPr>
            <p:ph idx="1"/>
          </p:nvPr>
        </p:nvSpPr>
        <p:spPr/>
        <p:txBody>
          <a:bodyPr>
            <a:normAutofit fontScale="92500" lnSpcReduction="20000"/>
          </a:bodyPr>
          <a:lstStyle/>
          <a:p>
            <a:r>
              <a:rPr lang="en-IN" dirty="0"/>
              <a:t>Migration to React.js architecture. </a:t>
            </a:r>
          </a:p>
          <a:p>
            <a:r>
              <a:rPr lang="en-IN" dirty="0"/>
              <a:t>Integration with backend services using Node.js and Express.js. </a:t>
            </a:r>
          </a:p>
          <a:p>
            <a:r>
              <a:rPr lang="en-IN" dirty="0"/>
              <a:t>Database connectivity using MySQL. </a:t>
            </a:r>
          </a:p>
          <a:p>
            <a:r>
              <a:rPr lang="en-IN" dirty="0"/>
              <a:t>Real-time API integration for flight and weather data. </a:t>
            </a:r>
          </a:p>
          <a:p>
            <a:r>
              <a:rPr lang="en-IN" dirty="0"/>
              <a:t>AI-based operational analytics and forecasting. </a:t>
            </a:r>
          </a:p>
          <a:p>
            <a:r>
              <a:rPr lang="en-IN" dirty="0"/>
              <a:t>Mobile application support. </a:t>
            </a:r>
          </a:p>
          <a:p>
            <a:r>
              <a:rPr lang="en-IN" dirty="0"/>
              <a:t>Advanced reporting and data visualization capabilities.</a:t>
            </a:r>
          </a:p>
          <a:p>
            <a:endParaRPr lang="en-IN" dirty="0"/>
          </a:p>
        </p:txBody>
      </p:sp>
    </p:spTree>
    <p:extLst>
      <p:ext uri="{BB962C8B-B14F-4D97-AF65-F5344CB8AC3E}">
        <p14:creationId xmlns:p14="http://schemas.microsoft.com/office/powerpoint/2010/main" val="652012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fontScale="92500" lnSpcReduction="10000"/>
          </a:bodyPr>
          <a:lstStyle/>
          <a:p>
            <a:r>
              <a:rPr lang="en-IN" dirty="0"/>
              <a:t>HTML5 Documentation</a:t>
            </a:r>
          </a:p>
          <a:p>
            <a:r>
              <a:rPr lang="en-IN" dirty="0"/>
              <a:t>CSS3 Documentation</a:t>
            </a:r>
          </a:p>
          <a:p>
            <a:r>
              <a:rPr lang="en-IN" dirty="0"/>
              <a:t>JavaScript Documentation</a:t>
            </a:r>
          </a:p>
          <a:p>
            <a:r>
              <a:rPr lang="en-IN" dirty="0"/>
              <a:t>MDN Web Docs</a:t>
            </a:r>
          </a:p>
          <a:p>
            <a:r>
              <a:rPr lang="en-IN" dirty="0"/>
              <a:t>Front-End Development Frameworks and UI Engineering Course Material</a:t>
            </a:r>
          </a:p>
          <a:p>
            <a:r>
              <a:rPr lang="en-IN" dirty="0"/>
              <a:t>Dashboard Design Principles and Best Practices</a:t>
            </a:r>
          </a:p>
          <a:p>
            <a:r>
              <a:rPr lang="en-IN" dirty="0"/>
              <a:t>Responsive Web Design Guidelines</a:t>
            </a:r>
          </a:p>
          <a:p>
            <a:r>
              <a:rPr lang="en-IN" dirty="0"/>
              <a:t>Visual Studio Code Documentation</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1924</TotalTime>
  <Words>924</Words>
  <Application>Microsoft Office PowerPoint</Application>
  <PresentationFormat>On-screen Show (4:3)</PresentationFormat>
  <Paragraphs>109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Times New Roman</vt:lpstr>
      <vt:lpstr>Office Theme</vt:lpstr>
      <vt:lpstr> A Project Review Meeting    on  Airline Ops Briefing Dashboard</vt:lpstr>
      <vt:lpstr>Outline of the Presentation</vt:lpstr>
      <vt:lpstr>Abstract</vt:lpstr>
      <vt:lpstr>Introduction</vt:lpstr>
      <vt:lpstr>Problem Statement </vt:lpstr>
      <vt:lpstr>Objectives with Justification </vt:lpstr>
      <vt:lpstr>Modules [Frontend web pages]</vt:lpstr>
      <vt:lpstr>PowerPoint Presentation</vt:lpstr>
      <vt:lpstr>PowerPoint Presentation</vt:lpstr>
      <vt:lpstr>PowerPoint Presentation</vt:lpstr>
      <vt:lpstr>PowerPoint Presentation</vt:lpstr>
      <vt:lpstr>CO MAPPING</vt:lpstr>
      <vt:lpstr>Expected Outcomes of the Proposed Work </vt:lpstr>
      <vt:lpstr>Conclusion</vt:lpstr>
      <vt:lpstr>Future Scope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Srihitha Reddy</cp:lastModifiedBy>
  <cp:revision>202</cp:revision>
  <dcterms:created xsi:type="dcterms:W3CDTF">2006-08-16T00:00:00Z</dcterms:created>
  <dcterms:modified xsi:type="dcterms:W3CDTF">2026-06-19T06:21:13Z</dcterms:modified>
</cp:coreProperties>
</file>